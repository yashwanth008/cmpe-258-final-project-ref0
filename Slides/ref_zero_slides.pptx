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0FF055-296E-4AB3-A8BA-3478893B263D}">
  <a:tblStyle styleId="{FE0FF055-296E-4AB3-A8BA-3478893B26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3474720"/>
            <a:ext cx="9144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457200"/>
            <a:ext cx="8046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 ZERO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AI-Powered Sports Referee Assistant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286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YOLO11  ·  MediaPipe  ·  Gemini 2.0 Flash  ·  browser-use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CMPE 258 — Deep Learning  |  San Jose State University  |  May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Team: Yashwanth Paladugu</a:t>
            </a: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Zach Xie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— Referee Errors Cost Championships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74320" y="868680"/>
            <a:ext cx="2743200" cy="146304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74320" y="86868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9144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16459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Average VAR review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46120" y="868680"/>
            <a:ext cx="2743200" cy="146304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46120" y="86868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429000" y="9144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450+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383280" y="16459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NFL officials, 256 games/year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17920" y="868680"/>
            <a:ext cx="2743200" cy="146304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17920" y="86868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400800" y="9144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355080" y="16459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Youth games with no video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VAR requires referees to: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2880360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Stop the game for 2–5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Manually scrub footage frame-by-frame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Recall rules from 200+ page rulebooks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Make judgment calls under intense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— Ref Zero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4008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508760" y="1170432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28600" y="1874520"/>
            <a:ext cx="1600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28600" y="18745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65760" y="192024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Live Camera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233172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WebSocket stream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30 FPS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423160" y="822960"/>
            <a:ext cx="822960" cy="8229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42316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291840" y="1170432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011680" y="1874520"/>
            <a:ext cx="1600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011680" y="18745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2148840" y="192024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148840" y="233172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33 keypoints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Skeleton overlay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206240" y="822960"/>
            <a:ext cx="822960" cy="8229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20624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74920" y="1170432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794760" y="1874520"/>
            <a:ext cx="1600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794760" y="18745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931920" y="192024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YOLO11n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931920" y="233172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Foul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 &gt; 0.5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989320" y="822960"/>
            <a:ext cx="822960" cy="8229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98932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58000" y="1170432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577840" y="1874520"/>
            <a:ext cx="1600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577840" y="18745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715000" y="192024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Smart DVR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715000" y="233172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5-second buffer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MP4 clip saved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772400" y="822960"/>
            <a:ext cx="822960" cy="8229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7724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360920" y="1874520"/>
            <a:ext cx="1600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360920" y="18745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498080" y="192024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Gemini 2.0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498080" y="233172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Rule citation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JSON verdict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5760" y="34290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End-to-end review time: under 10 seconds vs 2–5 minutes for traditional VAR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Foundation model: Gemini 2.0 Flash (multimodal LLM)  ·  Agentic AI: browser-use autonomous rulebook verifier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 JSON: { sport, action_breakdown, rule_violated, verdict, confidence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— YOLO11n Fine-Tuned on Sports Foul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74320" y="868680"/>
            <a:ext cx="4023360" cy="192024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74320" y="868680"/>
            <a:ext cx="64008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Why YOLO11 over alternatives?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57200" y="1325880"/>
            <a:ext cx="3657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vs YOLOv8: C3k2 blocks improve small-object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vs Detectron2: 10x faster (&lt;5ms vs ~50ms per frame)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vs custom CNN: COCO pre-training encodes body understanding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26280" y="868680"/>
            <a:ext cx="4343400" cy="192024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526280" y="868680"/>
            <a:ext cx="64008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Loss Function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663440" y="1325880"/>
            <a:ext cx="40690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Box (CIoU w=7.5): penalises position + overlap + aspect 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Classification (BCE w=0.5): multi-label safe (foul + contact)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Distribution Focal (DFL w=1.5): handles ambiguous edges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Hyperparameters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6"/>
          <p:cNvGraphicFramePr/>
          <p:nvPr/>
        </p:nvGraphicFramePr>
        <p:xfrm>
          <a:off x="274320" y="329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{FE0FF055-296E-4AB3-A8BA-3478893B263D}</a:tableStyleId>
              </a:tblPr>
              <a:tblGrid>
                <a:gridCol w="1463050"/>
                <a:gridCol w="1371600"/>
                <a:gridCol w="5760725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Justification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size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640px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Balances accuracy vs &gt;30 FPS real-time requirement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AdamW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Outperforms SGD on small datasets via adaptive LR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SiLU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Smoother gradients than ReLU, differentiable at zero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Tuned via W&amp;B sweep — 0.3 too many FP, 0.7 misses fouls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+ patience=10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Early stopping prevents overfit on 353-image dataset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Roboflow Foul Detection + Augmentation Strategy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74320" y="868680"/>
            <a:ext cx="2926080" cy="256032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74320" y="868680"/>
            <a:ext cx="64008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128016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Source: Roboflow Universe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License: CC BY 4.0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Total images: 353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Classes: foul / no-foul / 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331720"/>
            <a:ext cx="283464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3474720" y="868680"/>
            <a:ext cx="5394960" cy="420624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474720" y="868680"/>
            <a:ext cx="64008" cy="4206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657600" y="9144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Augmentation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7600" y="1371600"/>
            <a:ext cx="5074920" cy="45720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3703320" y="1417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Mosaic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846320" y="14173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53212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Combines 4 images — quadruples effective dataset diversity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657600" y="1920240"/>
            <a:ext cx="5074920" cy="4572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703320" y="196596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MixUp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846320" y="19659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532120" y="1965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Low-intensity blend adds regularization without confusion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0" y="2468880"/>
            <a:ext cx="5074920" cy="45720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703320" y="2514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Horiz. Flip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846320" y="25146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532120" y="2514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Fouls occur on both sides — doubles dataset for free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57600" y="3017520"/>
            <a:ext cx="5074920" cy="4572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703320" y="3063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Vert. Flip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846320" y="3063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532120" y="3063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Disabled — upside-down players never occur in broadcasts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0" y="3566160"/>
            <a:ext cx="5074920" cy="45720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703320" y="36118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HSV Jitter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46320" y="36118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h/s/v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53212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Handles court colors, lighting conditions, shadows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657600" y="4114800"/>
            <a:ext cx="5074920" cy="4572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703320" y="41605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Rotation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46320" y="41605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±5°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532120" y="4160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Simulates camera tilt — beyond 10° is unrealistic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Experiments — YOLO11n Training Results (50 Epochs)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28600" y="868680"/>
            <a:ext cx="1600200" cy="132588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28600" y="96012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0.554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228600" y="164592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mAP@0.5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993392" y="868680"/>
            <a:ext cx="1600200" cy="132588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993392" y="96012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0.281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993392" y="164592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mAP@0.5-95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758184" y="868680"/>
            <a:ext cx="1600200" cy="132588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758184" y="96012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0.463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758184" y="164592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522976" y="868680"/>
            <a:ext cx="1600200" cy="132588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522976" y="96012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0.651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522976" y="164592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287768" y="868680"/>
            <a:ext cx="1600200" cy="132588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7287768" y="96012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2.71h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287768" y="164592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Training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Per-Class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8"/>
          <p:cNvGraphicFramePr/>
          <p:nvPr/>
        </p:nvGraphicFramePr>
        <p:xfrm>
          <a:off x="274320" y="269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{FE0FF055-296E-4AB3-A8BA-3478893B263D}</a:tableStyleId>
              </a:tblPr>
              <a:tblGrid>
                <a:gridCol w="2286000"/>
                <a:gridCol w="1645925"/>
                <a:gridCol w="1645925"/>
                <a:gridCol w="1645925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mAP@0.5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mAP@0.5-95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(overall)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no-foul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8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Trained on Apple M2 Pro MPS  ·  AdamW optimizer  ·  640px input  ·  Batch 16  ·  Mosaic augmentation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Ablation Study — Model Size Comparison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three YOLO11 variants trained on identical dataset and hyperparameters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9"/>
          <p:cNvGraphicFramePr/>
          <p:nvPr/>
        </p:nvGraphicFramePr>
        <p:xfrm>
          <a:off x="2743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{FE0FF055-296E-4AB3-A8BA-3478893B263D}</a:tableStyleId>
              </a:tblPr>
              <a:tblGrid>
                <a:gridCol w="1828800"/>
                <a:gridCol w="914400"/>
                <a:gridCol w="1097275"/>
                <a:gridCol w="1097275"/>
                <a:gridCol w="1005850"/>
                <a:gridCol w="1645925"/>
                <a:gridCol w="10058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mAP@0.5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7B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YOLO11n  SELECTED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2.71h (50ep)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A1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YOLO11s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9.4M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0.66h (10ep)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19.2MB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YOLO11m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 collapse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11.6h (10ep)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40.5MB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F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F45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9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3703320"/>
            <a:ext cx="8321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YOLO11n achieves highest mAP despite being smallest — COCO pre-training provides strong transfer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YOLO11s at 10 epochs underperforms nano (50 epochs) — needs full training to converge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YOLO11m exhibited NaN loss collapse — lr=0.001 too aggressive for 20M params on 353-image dataset. Validates nano selection.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Production requirement: &gt;30 FPS for real-time refereeing — only YOLO11n meets this threshold (47 FPS)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Hyperparameter Sweep — W&amp;B Experiment Tracking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learning rates compared across 5-epoch runs logged to W&amp;B project ref-zero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20040" y="1188720"/>
            <a:ext cx="2743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320040" y="1188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02920" y="1234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lr0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02920" y="16276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Swept: 0.001, 0.0005, 0.0001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02920" y="190195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Best: 0.001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246120" y="1188720"/>
            <a:ext cx="2743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246120" y="1188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429000" y="1234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Swept: 8, 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429000" y="190195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Best: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72200" y="1188720"/>
            <a:ext cx="2743200" cy="13716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172200" y="1188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355080" y="1234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conf threshold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355080" y="16276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Swept: 0.3, 0.5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355080" y="190195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Best: 0.5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Sweep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7200" y="3108960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lr=0.001 consistently best — COCO pre-training allows higher LR without instability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batch=16 outperforms batch=8 with more stable gradients on the small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conf=0.5: lower (0.3) caused excessive false positives during normal play sequences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W&amp;B: 3 runs visualized in parallel coordinates chart  ·  MLflow: auto-logged by Ultralytics on every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MLOps Pipeline — Level 2 with CI/CD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 Zero — CMPE 258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274320" y="868680"/>
            <a:ext cx="2834640" cy="16002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74320" y="86868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468880" y="1005840"/>
            <a:ext cx="50292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468880" y="10058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W&amp;B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Experiment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57200" y="13716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Loss, mAP, precision, recall logged per epoch. 3-run hyperparameter comparison.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246120" y="868680"/>
            <a:ext cx="2834640" cy="16002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246120" y="86868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440680" y="1005840"/>
            <a:ext cx="50292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5440680" y="10058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42900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Registry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429000" y="13716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Auto-logged by Ultralytics. best.pt selected by val mAP@0.5. Hot-swap on retrain.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217920" y="868680"/>
            <a:ext cx="2834640" cy="16002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217920" y="86868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8412480" y="1005840"/>
            <a:ext cx="50292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412480" y="10058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400800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400800" y="13716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train.yml triggers on push. 5-epoch smoke test. Checkpoint uploaded as artifact.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74320" y="2697480"/>
            <a:ext cx="2834640" cy="16002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274320" y="269748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2468880" y="2834640"/>
            <a:ext cx="50292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2468880" y="28346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27889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HF Spaces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32004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Docker-based deploy to test0009-ref-zero.hf.space. GEMINI_API_KEY as secret.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246120" y="2697480"/>
            <a:ext cx="2834640" cy="16002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3246120" y="269748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5440680" y="2834640"/>
            <a:ext cx="50292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440680" y="28346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429000" y="27889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POST /api/retrain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429000" y="32004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Triggers YOLO11 retraining in background. Hot-swaps model without server restart.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217920" y="2697480"/>
            <a:ext cx="2834640" cy="160020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217920" y="2697480"/>
            <a:ext cx="6400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8412480" y="2834640"/>
            <a:ext cx="50292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8412480" y="28346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400800" y="27889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Repomix / Deepwiki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400800" y="32004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Full codebase documented in docs/codebase.md. Required by rubric.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MLOps Maturity Level 2 — Automated Training + Centralized Tracking + Model Management + Containerized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274320" y="868680"/>
            <a:ext cx="64008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502920" y="9601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mAP@0.5 = 0.554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108960" y="96012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YOLO11n fine-tuned on 353-image sports foul dataset in 2.71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274320" y="1737360"/>
            <a:ext cx="64008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502920" y="18288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&lt;10 sec verdict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108960" y="182880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End-to-end from YOLO11 trigger to Gemini rulebook citation vs 5 min VAR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274320" y="2606040"/>
            <a:ext cx="8595360" cy="73152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274320" y="2606040"/>
            <a:ext cx="64008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502920" y="2697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3-model ablation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3108960" y="269748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Nano selected: highest accuracy + smallest footprint + 47 FPS real-time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274320" y="3474720"/>
            <a:ext cx="8595360" cy="731520"/>
          </a:xfrm>
          <a:prstGeom prst="rect">
            <a:avLst/>
          </a:prstGeom>
          <a:solidFill>
            <a:srgbClr val="1A2F4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274320" y="3474720"/>
            <a:ext cx="64008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502920" y="35661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Full MLOps L2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3108960" y="356616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W&amp;B + MLflow + GitHub Actions CI/CD + HF Spaces deploy + /api/retrain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Future Work: expand dataset beyond 353 images · add NFL/NHL support · multi-camera fusion · drift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Live demo: https://test0009-ref-zero.hf.space  ·  GitHub: github.com/yashwanth008/CMPE-258-Final-Project-Ref0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